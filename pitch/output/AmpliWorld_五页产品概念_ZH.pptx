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7d228b9d674804" /><Relationship Type="http://schemas.openxmlformats.org/officeDocument/2006/relationships/extended-properties" Target="/docProps/app.xml" Id="R37dafbba7e3345bb" /><Relationship Type="http://schemas.openxmlformats.org/officeDocument/2006/relationships/officeDocument" Target="/ppt/presentation.xml" Id="R651b4e79fe9b41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fd4c832ea4854"/>
  </p:sldMasterIdLst>
  <p:notesMasterIdLst>
    <p:notesMasterId xmlns:r="http://schemas.openxmlformats.org/officeDocument/2006/relationships" r:id="Rebe51d6a9bf64ac6"/>
  </p:notesMasterIdLst>
  <p:sldIdLst>
    <p:sldId xmlns:r="http://schemas.openxmlformats.org/officeDocument/2006/relationships" id="256" r:id="R4e6b199de285449a"/>
    <p:sldId xmlns:r="http://schemas.openxmlformats.org/officeDocument/2006/relationships" id="257" r:id="Rc7213f9990024b37"/>
    <p:sldId xmlns:r="http://schemas.openxmlformats.org/officeDocument/2006/relationships" id="258" r:id="Rc9661bd0876d4436"/>
    <p:sldId xmlns:r="http://schemas.openxmlformats.org/officeDocument/2006/relationships" id="259" r:id="R54ab4e79d0e648dc"/>
    <p:sldId xmlns:r="http://schemas.openxmlformats.org/officeDocument/2006/relationships" id="260" r:id="Rfcd0b26c0ff6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0b470f59c44874" /><Relationship Type="http://schemas.openxmlformats.org/officeDocument/2006/relationships/slideMaster" Target="/ppt/slideMasters/slideMaster1.xml" Id="R3cefd4c832ea4854" /><Relationship Type="http://schemas.openxmlformats.org/officeDocument/2006/relationships/notesMaster" Target="/ppt/notesMasters/notesMaster1.xml" Id="Rebe51d6a9bf64ac6" /><Relationship Type="http://schemas.openxmlformats.org/officeDocument/2006/relationships/presProps" Target="/ppt/presProps.xml" Id="Rfdacd3de55c94fb6" /><Relationship Type="http://schemas.openxmlformats.org/officeDocument/2006/relationships/tableStyles" Target="/ppt/tableStyles.xml" Id="Rb748111ac0e74a94" /><Relationship Type="http://schemas.openxmlformats.org/officeDocument/2006/relationships/slide" Target="/ppt/slides/slide1.xml" Id="R4e6b199de285449a" /><Relationship Type="http://schemas.openxmlformats.org/officeDocument/2006/relationships/slide" Target="/ppt/slides/slide2.xml" Id="Rc7213f9990024b37" /><Relationship Type="http://schemas.openxmlformats.org/officeDocument/2006/relationships/slide" Target="/ppt/slides/slide3.xml" Id="Rc9661bd0876d4436" /><Relationship Type="http://schemas.openxmlformats.org/officeDocument/2006/relationships/slide" Target="/ppt/slides/slide4.xml" Id="R54ab4e79d0e648dc" /><Relationship Type="http://schemas.openxmlformats.org/officeDocument/2006/relationships/slide" Target="/ppt/slides/slide5.xml" Id="Rfcd0b26c0ff6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bf4833077641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d9949dcae4e10" /><Relationship Type="http://schemas.openxmlformats.org/officeDocument/2006/relationships/notesMaster" Target="/ppt/notesMasters/notesMaster1.xml" Id="R2982266525154d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d10999063e4166" /><Relationship Type="http://schemas.openxmlformats.org/officeDocument/2006/relationships/notesMaster" Target="/ppt/notesMasters/notesMaster1.xml" Id="R5eefb05261ef47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c9ce91c4204b03" /><Relationship Type="http://schemas.openxmlformats.org/officeDocument/2006/relationships/notesMaster" Target="/ppt/notesMasters/notesMaster1.xml" Id="R8e0a232896914c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7d60273ffc4ed5" /><Relationship Type="http://schemas.openxmlformats.org/officeDocument/2006/relationships/notesMaster" Target="/ppt/notesMasters/notesMaster1.xml" Id="Raea80eb73b874d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7cb25ba09cc4924" /><Relationship Type="http://schemas.openxmlformats.org/officeDocument/2006/relationships/notesMaster" Target="/ppt/notesMasters/notesMaster1.xml" Id="Rededfa83a8e34f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 artwork generated for AmpliWorld. All product figures and features are design assumptions unless marked as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074ded5144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f7db71994d4987" /><Relationship Type="http://schemas.openxmlformats.org/officeDocument/2006/relationships/slideLayout" Target="/ppt/slideLayouts/slideLayout1.xml" Id="Rdde8912f8ed2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e8912f8ed2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0dcf9a9974c0d" /><Relationship Type="http://schemas.openxmlformats.org/officeDocument/2006/relationships/image" Target="/ppt/media/image.png" Id="R978fe6f642284a9d" /><Relationship Type="http://schemas.openxmlformats.org/officeDocument/2006/relationships/notesSlide" Target="/ppt/notesSlides/notesSlide1.xml" Id="R7c2d24d1269042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e58aec3e54910" /><Relationship Type="http://schemas.openxmlformats.org/officeDocument/2006/relationships/notesSlide" Target="/ppt/notesSlides/notesSlide2.xml" Id="Ra0c518a1161041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3e754738f4002" /><Relationship Type="http://schemas.openxmlformats.org/officeDocument/2006/relationships/notesSlide" Target="/ppt/notesSlides/notesSlide3.xml" Id="R4d4264ec3bd842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ccb28e1094a7e" /><Relationship Type="http://schemas.openxmlformats.org/officeDocument/2006/relationships/notesSlide" Target="/ppt/notesSlides/notesSlide4.xml" Id="R0ced7a1f4be746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0d6b5e37498f" /><Relationship Type="http://schemas.openxmlformats.org/officeDocument/2006/relationships/notesSlide" Target="/ppt/notesSlides/notesSlide5.xml" Id="R5c65f1a1c6414a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fe6f642284a9d"/>
          <a:srcRect xmlns:a="http://schemas.openxmlformats.org/drawingml/2006/main" l="3333" t="0" r="33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9275F-C01E-4F56-8DC3-86115F37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00A">
              <a:alpha val="66667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67E59-66B4-4189-8A41-FB179118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AMPLIWORLD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EF4DE-9411-4415-A872-215396A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7625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交易一个活着的世界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85AAA6-A91C-4FA3-8C1C-C096C456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91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CFDDD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0">
                <a:solidFill>
                  <a:srgbClr val="CFDDD6"/>
                </a:solidFill>
                <a:latin typeface="Hiragino Sans GB"/>
                <a:ea typeface="Hiragino Sans GB"/>
                <a:cs typeface="Hiragino Sans GB"/>
              </a:rPr>
              <a:t>五页产品概念  |  AmpliAlpha, Inc.</a:t>
            </a:r>
          </a:p>
        </p:txBody>
      </p:sp>
    </p:spTree>
    <p:extLst>
      <p:ext uri="{BB962C8B-B14F-4D97-AF65-F5344CB8AC3E}">
        <p14:creationId xmlns:p14="http://schemas.microsoft.com/office/powerpoint/2010/main" val="544886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BB0C09-4663-4A1C-A1D9-322DFC54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玩家的核心循环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931F2-2D17-4618-B10A-CAB2F905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64F6E-58CA-4D80-9464-42F353AD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660C2-6651-4CA9-86E4-DBE46ADD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9537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每位玩家以 10,000 美元和一年居住权的初始公寓开局，交易始终是创造财富的主线。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39EA9-B22F-4955-89C6-B1EE4C20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23EA3-7923-403B-ACF9-577EBB68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CE139-097F-4F6B-90A0-4A658A79B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阅读世界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4BC4A1-A753-43F1-9FAD-7037EBD0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2B9308-DEC3-4FF1-A248-67005042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新闻改变人群、需求与价格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8DFB48-22F1-498E-A834-ECB650C4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NEWS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24A44-1053-47BD-9128-45B5404B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B5B297-4485-46CB-912C-125E9BB5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B838A3-B253-4592-8B1F-40DD9ED6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形成判断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A026A2-EB2B-4E14-8451-C32F2D61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2C0E28-56B5-4FD4-A0A1-F8E2832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模型信号与个人确信度共同竞争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3FF963-FECC-42ED-B4D9-EB5BA8D2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69075-B604-477C-B1CA-1CED1F60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5750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A3A09-0EA8-4FC2-8C5C-107AE40E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5D5B0-3005-4275-A8BA-5F86A378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进入交易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D7DBC-BB73-4673-8CE1-ADD14A23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F44D6B-5818-4BB9-8FA0-B094830E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虚拟仓位承担风险并缴纳税收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D8870-4551-4D4C-940D-6D193C27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5A5FF"/>
                </a:solidFill>
                <a:latin typeface="Avenir Next"/>
                <a:ea typeface="Avenir Next"/>
                <a:cs typeface="Avenir Next"/>
              </a:rPr>
              <a:t>ORDER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48BACB-B9C7-4A4C-BC1D-D237F2BB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5716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0EE1F6-2630-48D6-992C-EBBF7577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952625"/>
            <a:ext cx="2143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承担结果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853672-2305-4D23-88BF-22B8B0B6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790825"/>
            <a:ext cx="20764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25D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A0BEF-389C-4815-8F1E-173A85E0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38500"/>
            <a:ext cx="209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盈利解锁身份、房产与选择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29C5A6-913A-4BA5-939F-E32288C2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714875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FFB25D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25D"/>
                </a:solidFill>
                <a:latin typeface="Avenir Next"/>
                <a:ea typeface="Avenir Next"/>
                <a:cs typeface="Avenir Next"/>
              </a:rPr>
              <a:t>LIFE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CD7627-36C8-40B9-9F13-8D5EC03F0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每个交易日循环一次，系统持续保存仓位、财富、声誉与历史选择。</a:t>
            </a:r>
          </a:p>
        </p:txBody>
      </p:sp>
    </p:spTree>
    <p:extLst>
      <p:ext uri="{BB962C8B-B14F-4D97-AF65-F5344CB8AC3E}">
        <p14:creationId xmlns:p14="http://schemas.microsoft.com/office/powerpoint/2010/main" val="54553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595CA-80DE-4112-8313-CFFCD420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一个市场，四种世界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5981F-AACF-4163-BD53-65FE3E40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37ACD-CBA0-40C9-87D5-C7B055C4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A45D3-D8E3-4735-B3D0-92516AF4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42F5A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4D8C4E-9DF2-4504-9CFE-98C31F0A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57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赛博主城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E78883-4B22-4E51-ACBF-702DE2A7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交易所、公司、餐厅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B7A0D-E2C9-4314-9AE1-974B8FF8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19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65A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564CE2-DDEC-4A63-8860-938892F5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857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rPr>
              <a:t>海岛区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89A95-B818-4B16-83BE-0EFF2E5D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43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度假、游艇、高端地产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39AADE-95DA-4A51-992B-26B94C6E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FF746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00D73D-D0A7-4B0F-ADD6-248C7A9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43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74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746D"/>
                </a:solidFill>
                <a:latin typeface="Hiragino Sans GB"/>
                <a:ea typeface="Hiragino Sans GB"/>
                <a:cs typeface="Hiragino Sans GB"/>
              </a:rPr>
              <a:t>战争区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85777-B728-4D52-8034-A032B7CC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高风险事件与战后重建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61A49-6121-4018-ACFC-8DDF14D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905250"/>
            <a:ext cx="4191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9525">
            <a:solidFill>
              <a:srgbClr val="FFB2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507537-32BD-450D-8233-BC61AD79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143375"/>
            <a:ext cx="3667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rPr>
              <a:t>乡村地区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4BCE91-A88F-4D96-96F5-BEA4850B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6291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食品、土地、能源与供应链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3A061-0B05-4603-BF41-04238F50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388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每个地区都产生经济活动，并反向影响上市公司的虚拟价格。</a:t>
            </a:r>
          </a:p>
        </p:txBody>
      </p:sp>
    </p:spTree>
    <p:extLst>
      <p:ext uri="{BB962C8B-B14F-4D97-AF65-F5344CB8AC3E}">
        <p14:creationId xmlns:p14="http://schemas.microsoft.com/office/powerpoint/2010/main" val="19454445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2D366D-2B43-4C7E-BDC8-0CB3AF99A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平台经济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AB432F-1D16-4CCC-90DA-A438E103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48BC6-73C3-4898-BDD6-96903FF5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E0982-96C2-4785-ADC3-AA2B466B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42F5A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720191-7BEE-4FFB-9704-E2A99705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玩家价值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1085A-7DEC-4F88-A14E-A9F6FEF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快乐、皮肤、住宅、汽车与排名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740D63-07EF-4226-8D8C-26BCB9608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65A5F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1BE29-6DB2-45A8-9C55-F0BEFCA3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rPr>
              <a:t>平台价值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CAC63F-8BF0-4A63-AB87-9917BD58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订单流、情绪与交易习惯数据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61CB70-FEE7-4517-B614-F6B7D685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57162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21B"/>
          </a:solidFill>
          <a:ln xmlns:a="http://schemas.openxmlformats.org/drawingml/2006/main" w="28575">
            <a:solidFill>
              <a:srgbClr val="FFB25D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86D1C-7E43-4F54-9718-EE9DC4E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rPr>
              <a:t>世界财政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E51C2E-B6DA-4D04-87FA-02D7C44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28875"/>
            <a:ext cx="161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虚拟交易税与消费税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9374F-02E5-4F60-9705-02805D5C0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239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1ACCE3-069C-488F-9BD5-5AC8226E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6700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94239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343470-F462-4FC8-8164-AEF87D1E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38625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虚拟消费为玩家创造效用，也为平台产生可衡量的经济信号。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A2F23D-EEEF-427C-B293-3FB5FBF8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90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收入假设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E2F63F-3F98-4246-A80A-DFEA5FCE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皮肤与地产  /  内部交易手续费  /  虚拟税收  /  企业数据产品</a:t>
            </a:r>
          </a:p>
        </p:txBody>
      </p:sp>
    </p:spTree>
    <p:extLst>
      <p:ext uri="{BB962C8B-B14F-4D97-AF65-F5344CB8AC3E}">
        <p14:creationId xmlns:p14="http://schemas.microsoft.com/office/powerpoint/2010/main" val="4140945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06822F-2EB1-467A-9BC0-58D58AD8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商业模式与开发路线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3AB6C-BFBD-4F18-87D9-33845487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125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C044F-17CA-408B-8200-E6F13195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00125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3B94A-5F8D-4B0E-8A03-CBFFE268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42F5AF"/>
                </a:solidFill>
                <a:latin typeface="Hiragino Sans GB"/>
                <a:ea typeface="Hiragino Sans GB"/>
                <a:cs typeface="Hiragino Sans GB"/>
              </a:rPr>
              <a:t>现在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0041C-351C-4741-8F3E-0B2B3368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428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可玩的垂直切片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429F1F-F672-4279-A4FB-156ADD8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382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角色移动、虚拟交易、初始住房、商店与账户存档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2E9BD-E93A-4A16-9129-5BA924FB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A494D-DEB5-40C9-ACA1-59C8161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65A5FF"/>
                </a:solidFill>
                <a:latin typeface="Hiragino Sans GB"/>
                <a:ea typeface="Hiragino Sans GB"/>
                <a:cs typeface="Hiragino Sans GB"/>
              </a:rPr>
              <a:t>下一阶段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C032B5-71CE-4FCD-9F19-092CF0D2C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09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封闭经济世界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95603-DF57-4325-A589-1C67145A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194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物品、工作、内部交易市场、税收与排行榜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E7D99-A755-44CA-8E71-695BEF31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1062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239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13BD3-8E2B-4080-B621-F4085705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3862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1">
                <a:solidFill>
                  <a:srgbClr val="FFB25D"/>
                </a:solidFill>
                <a:latin typeface="Hiragino Sans GB"/>
                <a:ea typeface="Hiragino Sans GB"/>
                <a:cs typeface="Hiragino Sans GB"/>
              </a:rPr>
              <a:t>长期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45362-0451-4B19-AD28-8921BCBA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1910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活体市场模拟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BDD664-A9BB-4464-A298-64BA7FB5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005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98AAA2"/>
                </a:solidFill>
                <a:latin typeface="Hiragino Sans GB"/>
                <a:ea typeface="Hiragino Sans GB"/>
                <a:cs typeface="Hiragino Sans GB"/>
              </a:rPr>
              <a:t>全球事件、AI 市民、机构与研究级行为数据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E20FE4-C2C6-4BB4-AA48-4CA2CECC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620375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23126"/>
          </a:solidFill>
          <a:ln xmlns:a="http://schemas.openxmlformats.org/drawingml/2006/main" w="9525">
            <a:solidFill>
              <a:srgbClr val="42F5A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D97A0-05F4-4BD8-9723-5183EC69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19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F1F8F4"/>
                </a:solidFill>
                <a:latin typeface="Hiragino Sans GB"/>
                <a:ea typeface="Hiragino Sans GB"/>
                <a:cs typeface="Hiragino Sans GB"/>
              </a:rPr>
              <a:t>游戏让虚拟交易产生意义，市场让游戏世界拥有生命。</a:t>
            </a:r>
          </a:p>
        </p:txBody>
      </p:sp>
    </p:spTree>
    <p:extLst>
      <p:ext uri="{BB962C8B-B14F-4D97-AF65-F5344CB8AC3E}">
        <p14:creationId xmlns:p14="http://schemas.microsoft.com/office/powerpoint/2010/main" val="944436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2026-09-10T21:15:11.0830000Z</dcterms:created>
  <dcterms:modified xsi:type="dcterms:W3CDTF">2026-09-10T21:15:11.0830000Z</dcterms:modified>
</coreProperties>
</file>