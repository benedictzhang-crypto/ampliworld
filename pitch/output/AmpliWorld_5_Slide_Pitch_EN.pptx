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b775ec8b04fcb" /><Relationship Type="http://schemas.openxmlformats.org/officeDocument/2006/relationships/extended-properties" Target="/docProps/app.xml" Id="R10aea5f28eaf49d7" /><Relationship Type="http://schemas.openxmlformats.org/officeDocument/2006/relationships/officeDocument" Target="/ppt/presentation.xml" Id="Rfe19082c8c9f4a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123ffa97e4cb6"/>
  </p:sldMasterIdLst>
  <p:notesMasterIdLst>
    <p:notesMasterId xmlns:r="http://schemas.openxmlformats.org/officeDocument/2006/relationships" r:id="R876c67ceee484621"/>
  </p:notesMasterIdLst>
  <p:sldIdLst>
    <p:sldId xmlns:r="http://schemas.openxmlformats.org/officeDocument/2006/relationships" id="256" r:id="R34d020bd18cb4d32"/>
    <p:sldId xmlns:r="http://schemas.openxmlformats.org/officeDocument/2006/relationships" id="257" r:id="R0fc2d303a66b4de1"/>
    <p:sldId xmlns:r="http://schemas.openxmlformats.org/officeDocument/2006/relationships" id="258" r:id="Reeb5ec76ce58478f"/>
    <p:sldId xmlns:r="http://schemas.openxmlformats.org/officeDocument/2006/relationships" id="259" r:id="R6753971b123448f5"/>
    <p:sldId xmlns:r="http://schemas.openxmlformats.org/officeDocument/2006/relationships" id="260" r:id="Rf8f6f04b1819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c945d8d5a4329" /><Relationship Type="http://schemas.openxmlformats.org/officeDocument/2006/relationships/slideMaster" Target="/ppt/slideMasters/slideMaster1.xml" Id="R20a123ffa97e4cb6" /><Relationship Type="http://schemas.openxmlformats.org/officeDocument/2006/relationships/notesMaster" Target="/ppt/notesMasters/notesMaster1.xml" Id="R876c67ceee484621" /><Relationship Type="http://schemas.openxmlformats.org/officeDocument/2006/relationships/presProps" Target="/ppt/presProps.xml" Id="R55548cf79f4e4ec7" /><Relationship Type="http://schemas.openxmlformats.org/officeDocument/2006/relationships/tableStyles" Target="/ppt/tableStyles.xml" Id="R2ea44fc3925b48dc" /><Relationship Type="http://schemas.openxmlformats.org/officeDocument/2006/relationships/slide" Target="/ppt/slides/slide1.xml" Id="R34d020bd18cb4d32" /><Relationship Type="http://schemas.openxmlformats.org/officeDocument/2006/relationships/slide" Target="/ppt/slides/slide2.xml" Id="R0fc2d303a66b4de1" /><Relationship Type="http://schemas.openxmlformats.org/officeDocument/2006/relationships/slide" Target="/ppt/slides/slide3.xml" Id="Reeb5ec76ce58478f" /><Relationship Type="http://schemas.openxmlformats.org/officeDocument/2006/relationships/slide" Target="/ppt/slides/slide4.xml" Id="R6753971b123448f5" /><Relationship Type="http://schemas.openxmlformats.org/officeDocument/2006/relationships/slide" Target="/ppt/slides/slide5.xml" Id="Rf8f6f04b1819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4e01c3adb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f05dd399841e2" /><Relationship Type="http://schemas.openxmlformats.org/officeDocument/2006/relationships/notesMaster" Target="/ppt/notesMasters/notesMaster1.xml" Id="Rc682c90bcd364d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d82dcbecc4fa9" /><Relationship Type="http://schemas.openxmlformats.org/officeDocument/2006/relationships/notesMaster" Target="/ppt/notesMasters/notesMaster1.xml" Id="Ra462c3df3bcd4b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22904680443e5" /><Relationship Type="http://schemas.openxmlformats.org/officeDocument/2006/relationships/notesMaster" Target="/ppt/notesMasters/notesMaster1.xml" Id="Rb77640f75d27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fcaa89a5384de6" /><Relationship Type="http://schemas.openxmlformats.org/officeDocument/2006/relationships/notesMaster" Target="/ppt/notesMasters/notesMaster1.xml" Id="R2888ea2ecc0144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43619f6a2f4519" /><Relationship Type="http://schemas.openxmlformats.org/officeDocument/2006/relationships/notesMaster" Target="/ppt/notesMasters/notesMaster1.xml" Id="R92e616c12c27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artwork generated for AmpliWorld. All product figures and features are design assumptions unless marked as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0a5ec62ec4b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93fc9c512b45ce" /><Relationship Type="http://schemas.openxmlformats.org/officeDocument/2006/relationships/slideLayout" Target="/ppt/slideLayouts/slideLayout1.xml" Id="R8803a8036cc1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03a8036cc1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4526f60964057" /><Relationship Type="http://schemas.openxmlformats.org/officeDocument/2006/relationships/image" Target="/ppt/media/image.png" Id="R650d380252344417" /><Relationship Type="http://schemas.openxmlformats.org/officeDocument/2006/relationships/notesSlide" Target="/ppt/notesSlides/notesSlide1.xml" Id="Ra942490d2fa0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84d8574974507" /><Relationship Type="http://schemas.openxmlformats.org/officeDocument/2006/relationships/notesSlide" Target="/ppt/notesSlides/notesSlide2.xml" Id="R1753a4170716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b5ce3eca240df" /><Relationship Type="http://schemas.openxmlformats.org/officeDocument/2006/relationships/notesSlide" Target="/ppt/notesSlides/notesSlide3.xml" Id="Rc6ceb16c4c7b43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3b23073124c1f" /><Relationship Type="http://schemas.openxmlformats.org/officeDocument/2006/relationships/notesSlide" Target="/ppt/notesSlides/notesSlide4.xml" Id="R029415a87a3141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2ae8bea44bd3" /><Relationship Type="http://schemas.openxmlformats.org/officeDocument/2006/relationships/notesSlide" Target="/ppt/notesSlides/notesSlide5.xml" Id="Ra13dff086dd9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d380252344417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8CF61-7379-4273-A1BC-14C7FF0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0A">
              <a:alpha val="6666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4645D-ACB1-48C1-B4C8-35C1C0D3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26100-14BC-4B9F-9678-A92E68F7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62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TRADE THE LIVING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C179-726B-46C0-9A5B-909761A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FDDD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CFDDD6"/>
                </a:solidFill>
                <a:latin typeface="Avenir Next"/>
                <a:ea typeface="Avenir Next"/>
                <a:cs typeface="Avenir Next"/>
              </a:rPr>
              <a:t>Five-page product concept  |  AmpliAlpha, Inc.</a:t>
            </a:r>
          </a:p>
        </p:txBody>
      </p:sp>
    </p:spTree>
    <p:extLst>
      <p:ext uri="{BB962C8B-B14F-4D97-AF65-F5344CB8AC3E}">
        <p14:creationId xmlns:p14="http://schemas.microsoft.com/office/powerpoint/2010/main" val="1084257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1CDD2-A6C6-494B-ABC5-7B2BC88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The player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D70F1-E5F6-4850-BC82-D038C6B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2B36D-3D1B-473A-B170-5882C80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75D5D-7EA7-40A2-853E-248910B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Every player begins with $10,000 and a 365-day starter apartment. Trading remains the main path to wealth.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B005A-D4A1-4F64-8196-9773A09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01B77-023D-47DF-BCEF-99773C8D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42C6F-3AB3-4EA5-BFB2-32304765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READ THE 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546C8-453D-4EDE-B58C-A0EA602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ED58E-D2F1-48E3-9F59-DD2B0E08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News changes people, demand and prices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6F8BB-3328-446B-8AA5-FF592CF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NEWS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616DB-DA9F-4008-AF7A-FDB57B5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F36EE-1375-4BB5-8D16-3A15F9C4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31312-6DA0-43D3-8BE7-48317D5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FORM A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2EEDD-77D6-4632-92E2-DA0F478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0B987-2634-470D-83FD-F32745E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Signals compete with personal conviction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EEA04-F4C8-4EFD-81B4-F9E2F17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1C7E4-5669-4592-B26C-71835E9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ECE90-17BC-4E45-81C5-D8B34FD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F1192-032F-4BB3-8DDC-1B453DD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TRADE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3B2F9-5680-4454-A08B-E5ADD17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B1188-6B0B-4DBB-94C9-628902D9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Virtual positions carry risk and tax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3BC2E-C86A-48CA-8099-1BF8076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F4D52-CBFC-4A4B-83A6-75014BA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37A0D-0547-4BF9-9D75-D42E132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LIVE WITH THE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25E89-180F-4AE8-9021-8E44925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5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4D27D-2D66-4340-BB96-D39C8E3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Profit unlocks status, property and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46232-0DFE-487C-8CE1-22C9CD6D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25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25D"/>
                </a:solidFill>
                <a:latin typeface="Avenir Next"/>
                <a:ea typeface="Avenir Next"/>
                <a:cs typeface="Avenir Next"/>
              </a:rPr>
              <a:t>LIFE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30D0F-8B98-4BC5-B59F-5E6759D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The loop repeats every market day. Memory preserves positions, wealth, reputation and prior choices.</a:t>
            </a:r>
          </a:p>
        </p:txBody>
      </p:sp>
    </p:spTree>
    <p:extLst>
      <p:ext uri="{BB962C8B-B14F-4D97-AF65-F5344CB8AC3E}">
        <p14:creationId xmlns:p14="http://schemas.microsoft.com/office/powerpoint/2010/main" val="1248087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55A65-E7FD-4404-8407-E9212712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One market, four worlds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7101-8367-4FEC-8B5D-EAF35D27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D912D-04ED-4339-AC2F-532706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F5929-E05C-4A8A-BEC5-224517A0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42F5A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E7CB3-7316-42CA-BCBA-E7D8900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CYBER CBD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B9F55-4DD5-4435-8C2E-E7B3C1A0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Exchange, employers,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925E7-B110-428A-A5EE-1752BCAF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19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65A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EA63E-E56C-49ED-9977-B36AEB4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57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ISLAND DISTRICT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93C41-74D3-48EA-AAF1-35E00E2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43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Resorts, yachts, premium 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450FE-956B-4E29-A5A8-6421CE4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FF746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00989-B5A3-4378-A156-8209E00F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46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746D"/>
                </a:solidFill>
                <a:latin typeface="Avenir Next"/>
                <a:ea typeface="Avenir Next"/>
                <a:cs typeface="Avenir Next"/>
              </a:rPr>
              <a:t>WAR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2BF00-B04F-4145-BDBC-B213EB5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High risk events and reconstruction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7A2FF-9856-458C-ACCB-8BC05E1B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FFB2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43E3C-3BF6-4DD5-97AF-AC35B37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43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25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B25D"/>
                </a:solidFill>
                <a:latin typeface="Avenir Next"/>
                <a:ea typeface="Avenir Next"/>
                <a:cs typeface="Avenir Next"/>
              </a:rPr>
              <a:t>COUNTRYSIDE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A87B8-C271-461B-98DA-FBF89D1F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29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Food, land, energy and supply chains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BED2D-5846-4412-8553-79FCAB3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388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Every district produces economic activity that can feed back into listed assets.</a:t>
            </a:r>
          </a:p>
        </p:txBody>
      </p:sp>
    </p:spTree>
    <p:extLst>
      <p:ext uri="{BB962C8B-B14F-4D97-AF65-F5344CB8AC3E}">
        <p14:creationId xmlns:p14="http://schemas.microsoft.com/office/powerpoint/2010/main" val="223730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DFCD4-ADC8-4141-AB2E-4DF219BF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The platform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F9112-26FF-432F-AC3A-3CC7B43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677E5-E3F9-459B-93DC-6504878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37ED9-C256-44EA-BDCB-BE9FFEF6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876D-1E60-47CD-8253-116EE8D1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PLAYER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28F1-44A2-4194-88E8-B71A3EB5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Happiness, skins, homes, cars and 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F306D-AA22-4021-B1F1-E4C93FA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65A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6C9AE-67E8-4544-9FDD-01515F6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PLATFORM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9E654-4323-4AB5-93F7-58921B0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Order flow, sentiment and behavior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A7265-6E4E-435E-BA12-E844D52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FFB25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D7C7F-80E8-4C8F-BBEA-5AE78E1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25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B25D"/>
                </a:solidFill>
                <a:latin typeface="Avenir Next"/>
                <a:ea typeface="Avenir Next"/>
                <a:cs typeface="Avenir Next"/>
              </a:rPr>
              <a:t>WORLD TREASURY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9E658-5C94-4651-A528-65BDE00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7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Virtual transaction and consumption taxes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26B1C-A577-47E7-B8AE-5FC52E1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23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150A1-724E-4EAB-9662-57568E4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23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8D533-A25E-450E-94BF-9ED8E2B7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Virtual purchases create utility for players and measurable economic signals for the platform.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DBD5A-F12E-4049-A3E1-AA732FB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Revenue hypotheses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CB263-B396-43DE-A9ED-2335748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Cosmetics and property  /  Marketplace fees  /  Virtual taxes  /  Enterprise data products</a:t>
            </a:r>
          </a:p>
        </p:txBody>
      </p:sp>
    </p:spTree>
    <p:extLst>
      <p:ext uri="{BB962C8B-B14F-4D97-AF65-F5344CB8AC3E}">
        <p14:creationId xmlns:p14="http://schemas.microsoft.com/office/powerpoint/2010/main" val="1449553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E62AF-D88B-4350-B68F-96E65FD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Business model and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BDCEF-AC1E-4ECE-9FBB-6A71B57E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059CF-F739-43A4-8CE0-14B289E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E6E2-77FB-4B82-8535-8B93CAB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2F5A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2F5AF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9537D-093B-42E0-A116-5F35073F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Playable vertical slice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58B21-73B0-4928-9612-6C3A828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382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Movement, virtual trading, starter home, shops and persistent 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635F0-FFBB-4359-9DE3-AEF7DACB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D2472-C360-44AA-9B7D-760674E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37E8C-70F7-494B-966A-9B92BA0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9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Closed economic world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0F508-DC3C-471F-B724-F7C0DC45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Inventory, jobs, internal marketplace, taxes and leaderboard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CA04F-8223-4E72-97E0-072FAE1A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A306A-0EB7-48AF-B559-6BE18B09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25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B25D"/>
                </a:solidFill>
                <a:latin typeface="Avenir Next"/>
                <a:ea typeface="Avenir Next"/>
                <a:cs typeface="Avenir Next"/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F396C-51A8-4FE8-8788-71E8B101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Living market 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EE65D-1AA5-40D3-9DE3-AB1567F3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05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8AAA2"/>
                </a:solidFill>
                <a:latin typeface="Avenir Next"/>
                <a:ea typeface="Avenir Next"/>
                <a:cs typeface="Avenir Next"/>
              </a:rPr>
              <a:t>Global events, AI citizens, institutions and research-grade behavior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8A72A-050F-4E20-97B8-5ED99763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620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3126"/>
          </a:solidFill>
          <a:ln xmlns:a="http://schemas.openxmlformats.org/drawingml/2006/main" w="9525">
            <a:solidFill>
              <a:srgbClr val="42F5A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DD65D-0EA2-446A-A6F8-969E378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8F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1F8F4"/>
                </a:solidFill>
                <a:latin typeface="Avenir Next"/>
                <a:ea typeface="Avenir Next"/>
                <a:cs typeface="Avenir Next"/>
              </a:rPr>
              <a:t>The game makes virtual trading meaningful. The market makes the game economically alive.</a:t>
            </a:r>
          </a:p>
        </p:txBody>
      </p:sp>
    </p:spTree>
    <p:extLst>
      <p:ext uri="{BB962C8B-B14F-4D97-AF65-F5344CB8AC3E}">
        <p14:creationId xmlns:p14="http://schemas.microsoft.com/office/powerpoint/2010/main" val="420775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2026-09-10T21:14:49.1740000Z</dcterms:created>
  <dcterms:modified xsi:type="dcterms:W3CDTF">2026-09-10T21:14:49.1740000Z</dcterms:modified>
</coreProperties>
</file>