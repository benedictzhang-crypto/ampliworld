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bfadd179344ba9" /><Relationship Type="http://schemas.openxmlformats.org/officeDocument/2006/relationships/extended-properties" Target="/docProps/app.xml" Id="Rd4520599050644fc" /><Relationship Type="http://schemas.openxmlformats.org/officeDocument/2006/relationships/officeDocument" Target="/ppt/presentation.xml" Id="Racde87cb70a04c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bd02a1500341a1"/>
  </p:sldMasterIdLst>
  <p:notesMasterIdLst>
    <p:notesMasterId xmlns:r="http://schemas.openxmlformats.org/officeDocument/2006/relationships" r:id="R2429ea7aec7b4452"/>
  </p:notesMasterIdLst>
  <p:sldIdLst>
    <p:sldId xmlns:r="http://schemas.openxmlformats.org/officeDocument/2006/relationships" id="256" r:id="Rabe58b3f235e4820"/>
    <p:sldId xmlns:r="http://schemas.openxmlformats.org/officeDocument/2006/relationships" id="257" r:id="R482eb8e79a4149b1"/>
    <p:sldId xmlns:r="http://schemas.openxmlformats.org/officeDocument/2006/relationships" id="258" r:id="R07096b984be14541"/>
    <p:sldId xmlns:r="http://schemas.openxmlformats.org/officeDocument/2006/relationships" id="259" r:id="R45f7fb5354a6472b"/>
    <p:sldId xmlns:r="http://schemas.openxmlformats.org/officeDocument/2006/relationships" id="260" r:id="R38a5d5f197b140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a4315e9d1b4729" /><Relationship Type="http://schemas.openxmlformats.org/officeDocument/2006/relationships/slideMaster" Target="/ppt/slideMasters/slideMaster1.xml" Id="Rf9bd02a1500341a1" /><Relationship Type="http://schemas.openxmlformats.org/officeDocument/2006/relationships/notesMaster" Target="/ppt/notesMasters/notesMaster1.xml" Id="R2429ea7aec7b4452" /><Relationship Type="http://schemas.openxmlformats.org/officeDocument/2006/relationships/presProps" Target="/ppt/presProps.xml" Id="R4a049bd5907b44a3" /><Relationship Type="http://schemas.openxmlformats.org/officeDocument/2006/relationships/tableStyles" Target="/ppt/tableStyles.xml" Id="R27494452f250452d" /><Relationship Type="http://schemas.openxmlformats.org/officeDocument/2006/relationships/slide" Target="/ppt/slides/slide1.xml" Id="Rabe58b3f235e4820" /><Relationship Type="http://schemas.openxmlformats.org/officeDocument/2006/relationships/slide" Target="/ppt/slides/slide2.xml" Id="R482eb8e79a4149b1" /><Relationship Type="http://schemas.openxmlformats.org/officeDocument/2006/relationships/slide" Target="/ppt/slides/slide3.xml" Id="R07096b984be14541" /><Relationship Type="http://schemas.openxmlformats.org/officeDocument/2006/relationships/slide" Target="/ppt/slides/slide4.xml" Id="R45f7fb5354a6472b" /><Relationship Type="http://schemas.openxmlformats.org/officeDocument/2006/relationships/slide" Target="/ppt/slides/slide5.xml" Id="R38a5d5f197b140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dbedbc1ffa43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901fafe6dc48ba" /><Relationship Type="http://schemas.openxmlformats.org/officeDocument/2006/relationships/notesMaster" Target="/ppt/notesMasters/notesMaster1.xml" Id="Rfb79fab756514c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2bf6575a74297" /><Relationship Type="http://schemas.openxmlformats.org/officeDocument/2006/relationships/notesMaster" Target="/ppt/notesMasters/notesMaster1.xml" Id="R77d717570ad14f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b0ce8c2b1d44d6" /><Relationship Type="http://schemas.openxmlformats.org/officeDocument/2006/relationships/notesMaster" Target="/ppt/notesMasters/notesMaster1.xml" Id="Rd1edb11aed374f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4255828b5349f7" /><Relationship Type="http://schemas.openxmlformats.org/officeDocument/2006/relationships/notesMaster" Target="/ppt/notesMasters/notesMaster1.xml" Id="Ra17b1204cf844a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f8273c6ab54785" /><Relationship Type="http://schemas.openxmlformats.org/officeDocument/2006/relationships/notesMaster" Target="/ppt/notesMasters/notesMaster1.xml" Id="R3daab54de78847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concept art. Product vision; not a claim that every depicted feature is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concept art. All trading is virtual. Leverage is an in-game simulation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concept art. Lifestyle systems and marketplace are product-direction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concept art. Premium pricing is a hypothesis. Premium property must not grant trading power or ranking advantage.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foundation includes MatrAIx Persona 8B. The proposed product uses hierarchical sampling; it does not run 8.3 billion concurrent LLMs or render 8.3 billion NPCs.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9176caa0f4c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5a3b04237d484b" /><Relationship Type="http://schemas.openxmlformats.org/officeDocument/2006/relationships/slideLayout" Target="/ppt/slideLayouts/slideLayout1.xml" Id="R445963fa5eac4d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5963fa5eac4d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e3636e22e4bf8" /><Relationship Type="http://schemas.openxmlformats.org/officeDocument/2006/relationships/image" Target="/ppt/media/image.png" Id="R2a8d44ecbae4426e" /><Relationship Type="http://schemas.openxmlformats.org/officeDocument/2006/relationships/notesSlide" Target="/ppt/notesSlides/notesSlide1.xml" Id="Rc6f507f930fe49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9dc24ea304d9b" /><Relationship Type="http://schemas.openxmlformats.org/officeDocument/2006/relationships/image" Target="/ppt/media/image2.png" Id="R29a6e331cccf42f0" /><Relationship Type="http://schemas.openxmlformats.org/officeDocument/2006/relationships/notesSlide" Target="/ppt/notesSlides/notesSlide2.xml" Id="Rbad59de00613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51d1f7d544699" /><Relationship Type="http://schemas.openxmlformats.org/officeDocument/2006/relationships/image" Target="/ppt/media/image3.png" Id="R2f383927c1ba413b" /><Relationship Type="http://schemas.openxmlformats.org/officeDocument/2006/relationships/notesSlide" Target="/ppt/notesSlides/notesSlide3.xml" Id="R914538f4a6d545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ab08b30404add" /><Relationship Type="http://schemas.openxmlformats.org/officeDocument/2006/relationships/image" Target="/ppt/media/image4.png" Id="R59e143ca06ad4b52" /><Relationship Type="http://schemas.openxmlformats.org/officeDocument/2006/relationships/notesSlide" Target="/ppt/notesSlides/notesSlide4.xml" Id="R26d941077e474d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64ba213774ead" /><Relationship Type="http://schemas.openxmlformats.org/officeDocument/2006/relationships/image" Target="/ppt/media/image5.png" Id="R595b8f5542c34d77" /><Relationship Type="http://schemas.openxmlformats.org/officeDocument/2006/relationships/notesSlide" Target="/ppt/notesSlides/notesSlide5.xml" Id="R40069696aad24b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d44ecbae4426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A6E6A-076D-4DDE-B719-580B7296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10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792F8-CF0D-4A30-8810-6DC07119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FF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40FE8-6DAF-4730-AD47-39A7030E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2CC93-04F3-4DC1-BCBB-883619A4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895D8-C342-4684-992B-E2312394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D4ED3-EF63-4159-8C61-3E3C49B4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71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9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THE MARKET</a:t>
            </a:r>
          </a:p>
          <a:p xmlns:a="http://schemas.openxmlformats.org/drawingml/2006/main">
            <a:pPr>
              <a:defRPr sz="3525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BECOMES A WORLD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00C6C-E492-49C6-A1C5-2F1CCB21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63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FFB5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4BFFB5"/>
                </a:solidFill>
                <a:latin typeface="Avenir Next"/>
                <a:ea typeface="Avenir Next"/>
                <a:cs typeface="Avenir Next"/>
              </a:rPr>
              <a:t>Trade creates wealth. The city gives wealth meaning.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F5F42-52E4-42FD-9A7E-65485AE5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FFB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3BA10-0C09-454C-8DA1-B45998D5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5E4D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5E4DD"/>
                </a:solidFill>
                <a:latin typeface="Avenir Next"/>
                <a:ea typeface="Avenir Next"/>
                <a:cs typeface="Avenir Next"/>
              </a:rPr>
              <a:t>Begin with $10,000. Read the world, form conviction, live with the result—and build a life the market makes possible.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7493-3887-4E41-8F6B-74A796C2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8BBB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8BBB2"/>
                </a:solidFill>
                <a:latin typeface="Avenir Next"/>
                <a:ea typeface="Avenir Next"/>
                <a:cs typeface="Avenir Next"/>
              </a:rPr>
              <a:t>FLAGSHIP PRODUCT VISION  ·  AMPLIALPHA, INC.</a:t>
            </a:r>
          </a:p>
        </p:txBody>
      </p:sp>
    </p:spTree>
    <p:extLst>
      <p:ext uri="{BB962C8B-B14F-4D97-AF65-F5344CB8AC3E}">
        <p14:creationId xmlns:p14="http://schemas.microsoft.com/office/powerpoint/2010/main" val="17920511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6e331cccf42f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C7766-E523-408D-ADD7-32D72E3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3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331FF-FA4E-48A6-AF8B-1668E8F9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E74C6-DEA5-46EE-A487-A8E2B513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B223A-B11D-4718-A228-D0D51DB4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C45C3-8A91-44B6-A454-22804E20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FA56B-E250-4D46-95F3-C8B518AC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7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85EDB-134B-4CD3-9B08-23F0E66B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3238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70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 GAME THAT</a:t>
            </a:r>
          </a:p>
          <a:p xmlns:a="http://schemas.openxmlformats.org/drawingml/2006/main">
            <a:pPr>
              <a:defRPr sz="285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STARTS WITH A TRADE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B9998-62F9-44C4-A876-C6CADFD1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9D9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7C19E-92F7-47E4-A9B6-C93EBCA1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3295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FDFE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CFDFE8"/>
                </a:solidFill>
                <a:latin typeface="Avenir Next"/>
                <a:ea typeface="Avenir Next"/>
                <a:cs typeface="Avenir Next"/>
              </a:rPr>
              <a:t>News, consumption, politics and crowd behavior enter one world state. The player chooses the asset, timing, size and leverage. The world remembers the consequence.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5B676-2746-466B-B064-0A2CEDF7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32956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2B34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57DDA-AD58-40DC-870A-59F0AF2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9D9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9D9FF"/>
                </a:solidFill>
                <a:latin typeface="Avenir Next"/>
                <a:ea typeface="Avenir Next"/>
                <a:cs typeface="Avenir Next"/>
              </a:rPr>
              <a:t>VIRTUAL MARKET  ·  SERVER-EXECUTED QUOTES  ·  1×–5× LEVERAGE</a:t>
            </a:r>
          </a:p>
        </p:txBody>
      </p:sp>
    </p:spTree>
    <p:extLst>
      <p:ext uri="{BB962C8B-B14F-4D97-AF65-F5344CB8AC3E}">
        <p14:creationId xmlns:p14="http://schemas.microsoft.com/office/powerpoint/2010/main" val="17795620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83927c1ba413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391CC-BAD8-42F8-BD94-D5154D8E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21920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7E5F8-98B4-4C9A-89EB-9AC39D98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FF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DBE69-E5AA-46F6-8818-807D0055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4BC44-0832-4267-8732-2CF371A4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D4BCF-F26B-4E3D-B422-1426C19B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7DC3C-8189-4F93-83BE-D1AC7E5B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7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AB8B6-3CF2-4C0A-AD34-22AD7F68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RETURNS BECOME</a:t>
            </a:r>
          </a:p>
          <a:p xmlns:a="http://schemas.openxmlformats.org/drawingml/2006/main">
            <a:pPr>
              <a:defRPr sz="2925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 LIFE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9625A-B949-4976-AADC-E3B3231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E5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8E5DF"/>
                </a:solidFill>
                <a:latin typeface="Avenir Next"/>
                <a:ea typeface="Avenir Next"/>
                <a:cs typeface="Avenir Next"/>
              </a:rPr>
              <a:t>A portfolio is no longer only a curve. It becomes a home, a car, a journey, a wardrobe, a reputation—and permission to enter the next district.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1E121-4801-4094-9376-5986E807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05500"/>
            <a:ext cx="154305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2C21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DB2DC-CE38-496D-97D2-9B956840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817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FFB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4BFFB5"/>
                </a:solidFill>
                <a:latin typeface="Avenir Next"/>
                <a:ea typeface="Avenir Next"/>
                <a:cs typeface="Avenir Next"/>
              </a:rPr>
              <a:t>TRADE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96ED3-7124-4805-8956-0778D41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62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90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BBB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A8BBB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D7930-F9BC-4E10-888F-023A92B3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05500"/>
            <a:ext cx="154305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0273A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724C3-5D7D-48DC-90BF-04BB6B3A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817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D9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9D9FF"/>
                </a:solidFill>
                <a:latin typeface="Avenir Next"/>
                <a:ea typeface="Avenir Next"/>
                <a:cs typeface="Avenir Next"/>
              </a:rPr>
              <a:t>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F3CBA-665C-4035-9C44-5BE187BA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62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90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BBB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A8BBB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1E91D-E914-4E7E-A34D-DF783A1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905500"/>
            <a:ext cx="154305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2C21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E2306-BF2D-4EE3-8F4D-F52A4245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9817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FFB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4BFFB5"/>
                </a:solidFill>
                <a:latin typeface="Avenir Next"/>
                <a:ea typeface="Avenir Next"/>
                <a:cs typeface="Avenir Next"/>
              </a:rPr>
              <a:t>DISPLAY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7FFD2-C6B3-492E-9A8F-81208101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600" b="1">
                <a:solidFill>
                  <a:srgbClr val="A8BBB2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A8BBB2"/>
                </a:solidFill>
                <a:latin typeface="Avenir Next"/>
                <a:ea typeface="Avenir Next"/>
                <a:cs typeface="Avenir Next"/>
              </a:rPr>
              <a:t>AI CONCEPT ART</a:t>
            </a:r>
          </a:p>
        </p:txBody>
      </p:sp>
    </p:spTree>
    <p:extLst>
      <p:ext uri="{BB962C8B-B14F-4D97-AF65-F5344CB8AC3E}">
        <p14:creationId xmlns:p14="http://schemas.microsoft.com/office/powerpoint/2010/main" val="20254604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143ca06ad4b5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E5280-6CC9-4E0F-A760-82AD9A9F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48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D4FD3-C8CC-4BC7-974F-3710E64E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7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AAD7D-54D8-4C25-A84D-BF896934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4CF93-9BAF-488A-BA8B-ADAEBB8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913E1-52D2-49AE-A6D8-2FE3B00A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21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21D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A785E-78A2-4FAC-8CBA-FFEE6929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7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1716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1716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26D34-3AF6-4E7C-BF41-E1BA4307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32575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84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21D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7221D"/>
                </a:solidFill>
                <a:latin typeface="Avenir Next"/>
                <a:ea typeface="Avenir Next"/>
                <a:cs typeface="Avenir Next"/>
              </a:rPr>
              <a:t>A CITY WITH A</a:t>
            </a:r>
          </a:p>
          <a:p xmlns:a="http://schemas.openxmlformats.org/drawingml/2006/main">
            <a:pPr>
              <a:defRPr sz="2850" b="1">
                <a:solidFill>
                  <a:srgbClr val="17221D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7221D"/>
                </a:solidFill>
                <a:latin typeface="Avenir Next"/>
                <a:ea typeface="Avenir Next"/>
                <a:cs typeface="Avenir Next"/>
              </a:rPr>
              <a:t>REAL GAME ECONOMY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037E7-5671-4B3F-B444-EA84172F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43225"/>
            <a:ext cx="3257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55E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6655E"/>
                </a:solidFill>
                <a:latin typeface="Avenir Next"/>
                <a:ea typeface="Avenir Next"/>
                <a:cs typeface="Avenir Next"/>
              </a:rPr>
              <a:t>Most property is earned with virtual dollars. The rarest estate can be reached through extraordinary play—or through a cosmetic Founders edition that never improves trading power.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FB5B3-CFA6-4142-873D-27B3E2C0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923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A5E78-96B2-43CC-9901-AC8D3D36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D641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8D641D"/>
                </a:solidFill>
                <a:latin typeface="Avenir Next"/>
                <a:ea typeface="Avenir Next"/>
                <a:cs typeface="Avenir Next"/>
              </a:rPr>
              <a:t>$1  =  100 AMPLI CREDITS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70F7C-F388-4420-A3DF-DC5BA9B1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530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21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21D"/>
                </a:solidFill>
                <a:latin typeface="Avenir Next"/>
                <a:ea typeface="Avenir Next"/>
                <a:cs typeface="Avenir Next"/>
              </a:rPr>
              <a:t>FOUNDERS EDITION  ·  49,900 CREDITS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297EE-2499-40C3-88B7-6B017710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24525"/>
            <a:ext cx="32575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AE1CD"/>
          </a:solidFill>
          <a:ln xmlns:a="http://schemas.openxmlformats.org/drawingml/2006/main" w="9525">
            <a:solidFill>
              <a:srgbClr val="C9A4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B8BFC-96A3-4495-BE61-9FDE0AB6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F572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F572A"/>
                </a:solidFill>
                <a:latin typeface="Avenir Next"/>
                <a:ea typeface="Avenir Next"/>
                <a:cs typeface="Avenir Next"/>
              </a:rPr>
              <a:t>NEVER SELL RETURNS, LEVERAGE OR RANK</a:t>
            </a:r>
          </a:p>
        </p:txBody>
      </p:sp>
    </p:spTree>
    <p:extLst>
      <p:ext uri="{BB962C8B-B14F-4D97-AF65-F5344CB8AC3E}">
        <p14:creationId xmlns:p14="http://schemas.microsoft.com/office/powerpoint/2010/main" val="3889786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b8f5542c34d7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8869A-298B-49A2-ABA2-A546CE9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14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E8EF0-B8C8-4330-8D24-807657BA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95BF3-D2C4-4192-AEFC-79A7D5FC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ED97A-5054-452C-9597-01F978D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7120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FA0DB-A1B6-46C3-8AD3-A4591C2C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AMPLIWORLD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E34D0-8ADA-49C5-A936-2C8BF9E0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7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EAE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B2AB0-155E-4909-AF03-B32D920E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34766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46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8.3 BILLION PEOPLE</a:t>
            </a:r>
          </a:p>
          <a:p xmlns:a="http://schemas.openxmlformats.org/drawingml/2006/main">
            <a:pPr>
              <a:defRPr sz="2700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DO NOT BELONG ON ONE SCREEN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C7E79-208A-4388-9758-BD98FC68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3381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EDCE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CEDCE6"/>
                </a:solidFill>
                <a:latin typeface="Avenir Next"/>
                <a:ea typeface="Avenir Next"/>
                <a:cs typeface="Avenir Next"/>
              </a:rPr>
              <a:t>The population frame runs behind the world. Cohorts create behavior, active agents form memory, and persistent NPCs make the simulation visible.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052EB-1583-4F3B-AB12-CE1C95DC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D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93F0A-771F-4650-9829-B02F79B6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196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D9FF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2B624-8382-4525-BE69-C70A93F8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8.3B PERSONAS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B4150-7F51-4A27-8FB7-5DB69E76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9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D9FF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0E9F0-0996-4E5C-B855-41566CFF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1M WEIGHTED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21B20-21BA-4A04-A374-C49B6834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D9FF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38165-AD3A-4189-BCAE-99C394BE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ACTIVE COHORTS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A35DD-FBFA-4720-9FD7-3A1062CA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197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FFB5"/>
          </a:solidFill>
          <a:ln xmlns:a="http://schemas.openxmlformats.org/drawingml/2006/main" w="9525">
            <a:solidFill>
              <a:srgbClr val="4BFFB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58B59-567B-4707-91DC-4DD9E316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FFB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4BFFB5"/>
                </a:solidFill>
                <a:latin typeface="Avenir Next"/>
                <a:ea typeface="Avenir Next"/>
                <a:cs typeface="Avenir Next"/>
              </a:rPr>
              <a:t>VISIBLE NPCs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C6B36-A01A-4E78-AFBF-B73A0D2D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62650"/>
            <a:ext cx="6286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522"/>
          </a:solidFill>
          <a:ln xmlns:a="http://schemas.openxmlformats.org/drawingml/2006/main" w="9525">
            <a:solidFill>
              <a:srgbClr val="69D9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87573-16FD-4867-BA83-005DF1BE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483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FCF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6FCF9"/>
                </a:solidFill>
                <a:latin typeface="Avenir Next"/>
                <a:ea typeface="Avenir Next"/>
                <a:cs typeface="Avenir Next"/>
              </a:rPr>
              <a:t>The game creates engagement. Engagement becomes a richer market sensor.</a:t>
            </a:r>
          </a:p>
        </p:txBody>
      </p:sp>
    </p:spTree>
    <p:extLst>
      <p:ext uri="{BB962C8B-B14F-4D97-AF65-F5344CB8AC3E}">
        <p14:creationId xmlns:p14="http://schemas.microsoft.com/office/powerpoint/2010/main" val="383946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2026-09-10T21:48:07.4300000Z</dcterms:created>
  <dcterms:modified xsi:type="dcterms:W3CDTF">2026-09-10T21:48:07.4300000Z</dcterms:modified>
</coreProperties>
</file>